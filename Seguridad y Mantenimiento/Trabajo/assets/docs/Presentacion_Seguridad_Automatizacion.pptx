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5" r:id="rId11"/>
    <p:sldId id="264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10.jp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822960" y="54864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200" b="1">
                <a:solidFill>
                  <a:srgbClr val="FFD400"/>
                </a:solidFill>
                <a:latin typeface="Calibri"/>
              </a:rPr>
              <a:t>1769   </a:t>
            </a:r>
            <a:r>
              <a:rPr sz="5200" b="1">
                <a:solidFill>
                  <a:srgbClr val="FFFFFF"/>
                </a:solidFill>
                <a:latin typeface="Calibri"/>
              </a:rPr>
              <a:t>Patente de James Watt (nº 913)</a:t>
            </a:r>
          </a:p>
        </p:txBody>
      </p:sp>
      <p:sp>
        <p:nvSpPr>
          <p:cNvPr id="4" name="Marco multimedia"/>
          <p:cNvSpPr/>
          <p:nvPr/>
        </p:nvSpPr>
        <p:spPr>
          <a:xfrm>
            <a:off x="822960" y="1828800"/>
            <a:ext cx="9418320" cy="6309360"/>
          </a:xfrm>
          <a:prstGeom prst="roundRect">
            <a:avLst>
              <a:gd name="adj" fmla="val 3000"/>
            </a:avLst>
          </a:prstGeom>
          <a:solidFill>
            <a:srgbClr val="0B1F46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atente" descr="paten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985" y="1965960"/>
            <a:ext cx="4374945" cy="6035040"/>
          </a:xfrm>
          <a:prstGeom prst="rect">
            <a:avLst/>
          </a:prstGeom>
          <a:ln w="12700">
            <a:solidFill>
              <a:srgbClr val="4F86D6"/>
            </a:solidFill>
          </a:ln>
        </p:spPr>
      </p:pic>
      <p:pic>
        <p:nvPicPr>
          <p:cNvPr id="6" name="Patente" descr="patent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30" y="1965960"/>
            <a:ext cx="4292725" cy="6035040"/>
          </a:xfrm>
          <a:prstGeom prst="rect">
            <a:avLst/>
          </a:prstGeom>
          <a:ln w="12700">
            <a:solidFill>
              <a:srgbClr val="4F86D6"/>
            </a:solidFill>
          </a:ln>
        </p:spPr>
      </p:pic>
      <p:sp>
        <p:nvSpPr>
          <p:cNvPr id="7" name="Tarjeta de texto"/>
          <p:cNvSpPr/>
          <p:nvPr/>
        </p:nvSpPr>
        <p:spPr>
          <a:xfrm>
            <a:off x="10561320" y="1828800"/>
            <a:ext cx="4873752" cy="6309360"/>
          </a:xfrm>
          <a:prstGeom prst="roundRect">
            <a:avLst>
              <a:gd name="adj" fmla="val 4000"/>
            </a:avLst>
          </a:prstGeom>
          <a:solidFill>
            <a:srgbClr val="122E62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o del hito"/>
          <p:cNvSpPr txBox="1"/>
          <p:nvPr/>
        </p:nvSpPr>
        <p:spPr>
          <a:xfrm>
            <a:off x="10927080" y="2194560"/>
            <a:ext cx="4142232" cy="5577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FD400"/>
                </a:solidFill>
                <a:latin typeface="Calibri"/>
              </a:rPr>
              <a:t>PATENTE DE JAMES WATT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Método para reducir el consumo de vapor y combustible en las máquinas de fuego.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Idea clave: un condensador separado del cilindro, que se mantiene siempre caliente.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Inicio de la mecanización.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B5C9EC"/>
                </a:solidFill>
                <a:latin typeface="Calibri"/>
              </a:rPr>
              <a:t>Documento: Patente A.D. 1769, nº 913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822960" y="54864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200" b="1">
                <a:solidFill>
                  <a:srgbClr val="FFD400"/>
                </a:solidFill>
                <a:latin typeface="Calibri"/>
              </a:rPr>
              <a:t>1769   </a:t>
            </a:r>
            <a:r>
              <a:rPr sz="5200" b="1">
                <a:solidFill>
                  <a:srgbClr val="FFFFFF"/>
                </a:solidFill>
                <a:latin typeface="Calibri"/>
              </a:rPr>
              <a:t>La máquina de vapor de Watt</a:t>
            </a:r>
          </a:p>
        </p:txBody>
      </p:sp>
      <p:sp>
        <p:nvSpPr>
          <p:cNvPr id="4" name="Marco multimedia"/>
          <p:cNvSpPr/>
          <p:nvPr/>
        </p:nvSpPr>
        <p:spPr>
          <a:xfrm>
            <a:off x="822960" y="1828800"/>
            <a:ext cx="9418320" cy="6309360"/>
          </a:xfrm>
          <a:prstGeom prst="roundRect">
            <a:avLst>
              <a:gd name="adj" fmla="val 3000"/>
            </a:avLst>
          </a:prstGeom>
          <a:solidFill>
            <a:srgbClr val="0B1F46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Ví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" y="2411730"/>
            <a:ext cx="9144000" cy="5143500"/>
          </a:xfrm>
          <a:prstGeom prst="rect">
            <a:avLst/>
          </a:prstGeom>
        </p:spPr>
      </p:pic>
      <p:sp>
        <p:nvSpPr>
          <p:cNvPr id="6" name="Tarjeta de texto"/>
          <p:cNvSpPr/>
          <p:nvPr/>
        </p:nvSpPr>
        <p:spPr>
          <a:xfrm>
            <a:off x="10561320" y="1828800"/>
            <a:ext cx="4873752" cy="6309360"/>
          </a:xfrm>
          <a:prstGeom prst="roundRect">
            <a:avLst>
              <a:gd name="adj" fmla="val 4000"/>
            </a:avLst>
          </a:prstGeom>
          <a:solidFill>
            <a:srgbClr val="122E62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o del hito"/>
          <p:cNvSpPr txBox="1"/>
          <p:nvPr/>
        </p:nvSpPr>
        <p:spPr>
          <a:xfrm>
            <a:off x="10927080" y="2194560"/>
            <a:ext cx="4142232" cy="5577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FD400"/>
                </a:solidFill>
                <a:latin typeface="Calibri"/>
              </a:rPr>
              <a:t>MÁQUINA DE VAPOR DE WATT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Mejora con condensador separado y regulador centrífugo.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El regulador es un precedente del control con realimentación.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B5C9EC"/>
                </a:solidFill>
                <a:latin typeface="Calibri"/>
              </a:rPr>
              <a:t>Vídeo: funcionamiento de la máquina de vapor de Watt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 mute="1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822960" y="54864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200" b="1">
                <a:solidFill>
                  <a:srgbClr val="FFD400"/>
                </a:solidFill>
                <a:latin typeface="Calibri"/>
              </a:rPr>
              <a:t>1913   </a:t>
            </a:r>
            <a:r>
              <a:rPr sz="5200" b="1">
                <a:solidFill>
                  <a:srgbClr val="FFFFFF"/>
                </a:solidFill>
                <a:latin typeface="Calibri"/>
              </a:rPr>
              <a:t>Cadena de montaje móvil</a:t>
            </a:r>
          </a:p>
        </p:txBody>
      </p:sp>
      <p:sp>
        <p:nvSpPr>
          <p:cNvPr id="4" name="Marco multimedia"/>
          <p:cNvSpPr/>
          <p:nvPr/>
        </p:nvSpPr>
        <p:spPr>
          <a:xfrm>
            <a:off x="822960" y="1828800"/>
            <a:ext cx="9418320" cy="6309360"/>
          </a:xfrm>
          <a:prstGeom prst="roundRect">
            <a:avLst>
              <a:gd name="adj" fmla="val 3000"/>
            </a:avLst>
          </a:prstGeom>
          <a:solidFill>
            <a:srgbClr val="0B1F46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Ví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08760" y="1965960"/>
            <a:ext cx="8046720" cy="6035040"/>
          </a:xfrm>
          <a:prstGeom prst="rect">
            <a:avLst/>
          </a:prstGeom>
        </p:spPr>
      </p:pic>
      <p:sp>
        <p:nvSpPr>
          <p:cNvPr id="6" name="Tarjeta de texto"/>
          <p:cNvSpPr/>
          <p:nvPr/>
        </p:nvSpPr>
        <p:spPr>
          <a:xfrm>
            <a:off x="10561320" y="1828800"/>
            <a:ext cx="4873752" cy="6309360"/>
          </a:xfrm>
          <a:prstGeom prst="roundRect">
            <a:avLst>
              <a:gd name="adj" fmla="val 4000"/>
            </a:avLst>
          </a:prstGeom>
          <a:solidFill>
            <a:srgbClr val="122E62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o del hito"/>
          <p:cNvSpPr txBox="1"/>
          <p:nvPr/>
        </p:nvSpPr>
        <p:spPr>
          <a:xfrm>
            <a:off x="10927080" y="2194560"/>
            <a:ext cx="4142232" cy="5577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FD400"/>
                </a:solidFill>
                <a:latin typeface="Calibri"/>
              </a:rPr>
              <a:t>HENRY FORD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Implementada por Henry Ford para la fabricación de automóviles.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Establece el flujo continuo de producción.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B5C9EC"/>
                </a:solidFill>
                <a:latin typeface="Calibri"/>
              </a:rPr>
              <a:t>Vídeo: línea de montaje del Ford T (1919)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822960" y="54864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200" b="1" dirty="0">
                <a:solidFill>
                  <a:srgbClr val="FFD400"/>
                </a:solidFill>
                <a:latin typeface="Calibri"/>
              </a:rPr>
              <a:t>1952 – 1959   </a:t>
            </a:r>
            <a:r>
              <a:rPr sz="5200" b="1" dirty="0">
                <a:solidFill>
                  <a:srgbClr val="FFFFFF"/>
                </a:solidFill>
                <a:latin typeface="Calibri"/>
              </a:rPr>
              <a:t>Control </a:t>
            </a:r>
            <a:r>
              <a:rPr sz="5200" b="1" dirty="0" err="1">
                <a:solidFill>
                  <a:srgbClr val="FFFFFF"/>
                </a:solidFill>
                <a:latin typeface="Calibri"/>
              </a:rPr>
              <a:t>numérico</a:t>
            </a:r>
            <a:r>
              <a:rPr sz="5200" b="1" dirty="0">
                <a:solidFill>
                  <a:srgbClr val="FFFFFF"/>
                </a:solidFill>
                <a:latin typeface="Calibri"/>
              </a:rPr>
              <a:t> (NC) y APT</a:t>
            </a:r>
          </a:p>
        </p:txBody>
      </p:sp>
      <p:sp>
        <p:nvSpPr>
          <p:cNvPr id="4" name="Marco multimedia"/>
          <p:cNvSpPr/>
          <p:nvPr/>
        </p:nvSpPr>
        <p:spPr>
          <a:xfrm>
            <a:off x="822960" y="1828800"/>
            <a:ext cx="9418320" cy="6309360"/>
          </a:xfrm>
          <a:prstGeom prst="roundRect">
            <a:avLst>
              <a:gd name="adj" fmla="val 3000"/>
            </a:avLst>
          </a:prstGeom>
          <a:solidFill>
            <a:srgbClr val="0B1F46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Ví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08760" y="1965960"/>
            <a:ext cx="8046720" cy="6035040"/>
          </a:xfrm>
          <a:prstGeom prst="rect">
            <a:avLst/>
          </a:prstGeom>
        </p:spPr>
      </p:pic>
      <p:sp>
        <p:nvSpPr>
          <p:cNvPr id="6" name="Tarjeta de texto"/>
          <p:cNvSpPr/>
          <p:nvPr/>
        </p:nvSpPr>
        <p:spPr>
          <a:xfrm>
            <a:off x="10561320" y="1828800"/>
            <a:ext cx="4873752" cy="6309360"/>
          </a:xfrm>
          <a:prstGeom prst="roundRect">
            <a:avLst>
              <a:gd name="adj" fmla="val 4000"/>
            </a:avLst>
          </a:prstGeom>
          <a:solidFill>
            <a:srgbClr val="122E62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o del hito"/>
          <p:cNvSpPr txBox="1"/>
          <p:nvPr/>
        </p:nvSpPr>
        <p:spPr>
          <a:xfrm>
            <a:off x="10927080" y="2194560"/>
            <a:ext cx="4142232" cy="5577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FD400"/>
                </a:solidFill>
                <a:latin typeface="Calibri"/>
              </a:rPr>
              <a:t>MIT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Desarrollo de la fresadora de control numérico.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Sistema de programación automática APT (Automatically Programmed Tools).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B5C9EC"/>
                </a:solidFill>
                <a:latin typeface="Calibri"/>
              </a:rPr>
              <a:t>Vídeo: MIT Science Reporter, «Automatically Programmed Tools» (1959)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822960" y="54864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200" b="1">
                <a:solidFill>
                  <a:srgbClr val="FFD400"/>
                </a:solidFill>
                <a:latin typeface="Calibri"/>
              </a:rPr>
              <a:t>1967 – 1969   </a:t>
            </a:r>
            <a:r>
              <a:rPr sz="5200" b="1">
                <a:solidFill>
                  <a:srgbClr val="FFFFFF"/>
                </a:solidFill>
                <a:latin typeface="Calibri"/>
              </a:rPr>
              <a:t>Expansión japonesa: Kawasaki-Unimate</a:t>
            </a:r>
          </a:p>
        </p:txBody>
      </p:sp>
      <p:sp>
        <p:nvSpPr>
          <p:cNvPr id="4" name="Marco multimedia"/>
          <p:cNvSpPr/>
          <p:nvPr/>
        </p:nvSpPr>
        <p:spPr>
          <a:xfrm>
            <a:off x="822960" y="1828800"/>
            <a:ext cx="9418320" cy="6309360"/>
          </a:xfrm>
          <a:prstGeom prst="roundRect">
            <a:avLst>
              <a:gd name="adj" fmla="val 3000"/>
            </a:avLst>
          </a:prstGeom>
          <a:solidFill>
            <a:srgbClr val="0B1F46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Ví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08760" y="1965960"/>
            <a:ext cx="8046720" cy="6035040"/>
          </a:xfrm>
          <a:prstGeom prst="rect">
            <a:avLst/>
          </a:prstGeom>
        </p:spPr>
      </p:pic>
      <p:sp>
        <p:nvSpPr>
          <p:cNvPr id="6" name="Tarjeta de texto"/>
          <p:cNvSpPr/>
          <p:nvPr/>
        </p:nvSpPr>
        <p:spPr>
          <a:xfrm>
            <a:off x="10561320" y="1828800"/>
            <a:ext cx="4873752" cy="6309360"/>
          </a:xfrm>
          <a:prstGeom prst="roundRect">
            <a:avLst>
              <a:gd name="adj" fmla="val 4000"/>
            </a:avLst>
          </a:prstGeom>
          <a:solidFill>
            <a:srgbClr val="122E62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o del hito"/>
          <p:cNvSpPr txBox="1"/>
          <p:nvPr/>
        </p:nvSpPr>
        <p:spPr>
          <a:xfrm>
            <a:off x="10927080" y="2194560"/>
            <a:ext cx="4142232" cy="5577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FD400"/>
                </a:solidFill>
                <a:latin typeface="Calibri"/>
              </a:rPr>
              <a:t>KAWASAKI Y UNIMATION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Acuerdo entre Kawasaki y Unimation para la producción masiva del robot Kawasaki-Unimate 2000.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B5C9EC"/>
                </a:solidFill>
                <a:latin typeface="Calibri"/>
              </a:rPr>
              <a:t>Vídeo: Kawasaki-Unimate en Japón (1968–1969)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822960" y="54864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200" b="1">
                <a:solidFill>
                  <a:srgbClr val="FFD400"/>
                </a:solidFill>
                <a:latin typeface="Calibri"/>
              </a:rPr>
              <a:t>1973   </a:t>
            </a:r>
            <a:r>
              <a:rPr sz="5200" b="1">
                <a:solidFill>
                  <a:srgbClr val="FFFFFF"/>
                </a:solidFill>
                <a:latin typeface="Calibri"/>
              </a:rPr>
              <a:t>KUKA FAMULUS (6 ejes)</a:t>
            </a:r>
          </a:p>
        </p:txBody>
      </p:sp>
      <p:sp>
        <p:nvSpPr>
          <p:cNvPr id="4" name="Marco multimedia"/>
          <p:cNvSpPr/>
          <p:nvPr/>
        </p:nvSpPr>
        <p:spPr>
          <a:xfrm>
            <a:off x="822960" y="1828800"/>
            <a:ext cx="9418320" cy="6309360"/>
          </a:xfrm>
          <a:prstGeom prst="roundRect">
            <a:avLst>
              <a:gd name="adj" fmla="val 3000"/>
            </a:avLst>
          </a:prstGeom>
          <a:solidFill>
            <a:srgbClr val="0B1F46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Ví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" y="2395555"/>
            <a:ext cx="9144000" cy="5175849"/>
          </a:xfrm>
          <a:prstGeom prst="rect">
            <a:avLst/>
          </a:prstGeom>
        </p:spPr>
      </p:pic>
      <p:sp>
        <p:nvSpPr>
          <p:cNvPr id="6" name="Tarjeta de texto"/>
          <p:cNvSpPr/>
          <p:nvPr/>
        </p:nvSpPr>
        <p:spPr>
          <a:xfrm>
            <a:off x="10561320" y="1828800"/>
            <a:ext cx="4873752" cy="6309360"/>
          </a:xfrm>
          <a:prstGeom prst="roundRect">
            <a:avLst>
              <a:gd name="adj" fmla="val 4000"/>
            </a:avLst>
          </a:prstGeom>
          <a:solidFill>
            <a:srgbClr val="122E62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o del hito"/>
          <p:cNvSpPr txBox="1"/>
          <p:nvPr/>
        </p:nvSpPr>
        <p:spPr>
          <a:xfrm>
            <a:off x="10927080" y="2194560"/>
            <a:ext cx="4142232" cy="5577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FD400"/>
                </a:solidFill>
                <a:latin typeface="Calibri"/>
              </a:rPr>
              <a:t>KUKA, ALEMANIA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Primer robot industrial eléctrico de seis ejes, presentado en Alemania.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B5C9EC"/>
                </a:solidFill>
                <a:latin typeface="Calibri"/>
              </a:rPr>
              <a:t>Vídeo: KUKA FAMULUS (1973)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ítulo"/>
          <p:cNvSpPr txBox="1"/>
          <p:nvPr/>
        </p:nvSpPr>
        <p:spPr>
          <a:xfrm>
            <a:off x="822960" y="54864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200" b="1">
                <a:solidFill>
                  <a:srgbClr val="FFD400"/>
                </a:solidFill>
                <a:latin typeface="Calibri"/>
              </a:rPr>
              <a:t>1974   </a:t>
            </a:r>
            <a:r>
              <a:rPr sz="5200" b="1">
                <a:solidFill>
                  <a:srgbClr val="FFFFFF"/>
                </a:solidFill>
                <a:latin typeface="Calibri"/>
              </a:rPr>
              <a:t>ASEA IRB 6 y SEAT España</a:t>
            </a:r>
          </a:p>
        </p:txBody>
      </p:sp>
      <p:sp>
        <p:nvSpPr>
          <p:cNvPr id="4" name="Marco multimedia"/>
          <p:cNvSpPr/>
          <p:nvPr/>
        </p:nvSpPr>
        <p:spPr>
          <a:xfrm>
            <a:off x="822960" y="1828800"/>
            <a:ext cx="9418320" cy="6309360"/>
          </a:xfrm>
          <a:prstGeom prst="roundRect">
            <a:avLst>
              <a:gd name="adj" fmla="val 3000"/>
            </a:avLst>
          </a:prstGeom>
          <a:solidFill>
            <a:srgbClr val="0B1F46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Ví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" y="2411730"/>
            <a:ext cx="9144000" cy="5143500"/>
          </a:xfrm>
          <a:prstGeom prst="rect">
            <a:avLst/>
          </a:prstGeom>
        </p:spPr>
      </p:pic>
      <p:sp>
        <p:nvSpPr>
          <p:cNvPr id="6" name="Tarjeta de texto"/>
          <p:cNvSpPr/>
          <p:nvPr/>
        </p:nvSpPr>
        <p:spPr>
          <a:xfrm>
            <a:off x="10561320" y="1828800"/>
            <a:ext cx="4873752" cy="6309360"/>
          </a:xfrm>
          <a:prstGeom prst="roundRect">
            <a:avLst>
              <a:gd name="adj" fmla="val 4000"/>
            </a:avLst>
          </a:prstGeom>
          <a:solidFill>
            <a:srgbClr val="122E62"/>
          </a:solidFill>
          <a:ln w="22225">
            <a:solidFill>
              <a:srgbClr val="4F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o del hito"/>
          <p:cNvSpPr txBox="1"/>
          <p:nvPr/>
        </p:nvSpPr>
        <p:spPr>
          <a:xfrm>
            <a:off x="10927080" y="2194560"/>
            <a:ext cx="4142232" cy="5577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FD400"/>
                </a:solidFill>
                <a:latin typeface="Calibri"/>
              </a:rPr>
              <a:t>ASEA, SUECIA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Presentación del robot eléctrico IRB 6 (Suecia).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Incorporación de los primeros robots en SEAT Barcelona.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B5C9EC"/>
                </a:solidFill>
                <a:latin typeface="Calibri"/>
              </a:rPr>
              <a:t>Vídeo: ASEA IRB 6 (1974)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73C7AB2-149A-5740-42BB-C6E2CF41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8100"/>
            <a:ext cx="16814800" cy="92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639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274</Words>
  <Application>Microsoft Office PowerPoint</Application>
  <PresentationFormat>Personalizado</PresentationFormat>
  <Paragraphs>34</Paragraphs>
  <Slides>11</Slides>
  <Notes>0</Notes>
  <HiddenSlides>0</HiddenSlides>
  <MMClips>6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Victor Larrañaga Gurrea</cp:lastModifiedBy>
  <cp:revision>4</cp:revision>
  <dcterms:created xsi:type="dcterms:W3CDTF">2006-08-16T00:00:00Z</dcterms:created>
  <dcterms:modified xsi:type="dcterms:W3CDTF">2026-10-15T05:54:07Z</dcterms:modified>
</cp:coreProperties>
</file>